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idea central: un solo sistema que cubre todo el ciclo de la tarjeta y decide cada compra por sí mismo. Está desplegado en ac.alocashfintech.com.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las tres ideas y aclarar que el sistema ya está desplegado y funcionando con datos reales del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siete pasos. Insistir en la idea de retención: la autorización no mueve dinero hasta la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autorizador es propio y que cada tercero se conecta por un contrato explícito; el registro de terceros permite cambiar de proveedor sin tocar el núcleo.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un producto nuevo es configuración, no desarrollo: BIN, familia, red, moneda y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demo: una compra aprobada, una por fondos (51) y una por límite (61). Mostrar el folio y el RRN en la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PCI: el PAN nunca se muestra completo y el HSM es intercambiable por un equipo certificado.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demo: cargar un archivo, mostrar el casado, cerrar el ciclo, registrar el pago y abrir la conciliación.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una venta desde el portal del adquirente y verla llegar como retención en el CMS; luego el archivo CMS-CLR casado con intercambio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los cuatro argumentos y dejar las direcciones en pantalla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Mexico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tarjetas y autorizador en tiempo real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Prepago, débito y crédito sobre un mismo motor: producto, emisión, autorización, compensación, liquidación y conciliación con el 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153A3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663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ac.alocashfintech.com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2011680"/>
            <a:ext cx="3931920" cy="2468880"/>
          </a:xfrm>
          <a:prstGeom prst="roundRect">
            <a:avLst>
              <a:gd name="adj" fmla="val 8148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01000" y="260604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 12••  ••••  8410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3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DEMO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ALOCASH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4709160"/>
            <a:ext cx="3566160" cy="1417320"/>
          </a:xfrm>
          <a:prstGeom prst="roundRect">
            <a:avLst>
              <a:gd name="adj" fmla="val 11613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 ISO 8583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0200 → 0210 · 39=00 aprobada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para todo el ciclo de la tarjeta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sostienen el diseño del CMS y su autorizador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emisor decide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compra la aprueba o rechaza nuestro autorizador en milisegundos: controles, límites, reglas de fraude y fondos, sin depender de un procesador externo.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Protegido por diseño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889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 tarjeta viven cifrados en una bóveda, PIN y claves se manejan en un HSM, y cada acción deja rastro de auditoría con usuario y fecha.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Conectado, no aislado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889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ISO 8583 con redes y adquirentes, y se integra con el core Mifos, el IAM corporativo, la mensajería y el portal de negocios. Todo tercero está registrado y monitoreado.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no es una maqueta: tarjetas emitidas sobre cuentas del core, un adquirente conectado y un ciclo de liquidación que cierra con conciliación contable.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producto a la conciliación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pasos, un solo sistema, el mismo orden en que lo veremos en la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481328" cy="822960"/>
          </a:xfrm>
          <a:prstGeom prst="chevron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BIN, red, moneda, familia y reglas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2194560"/>
            <a:ext cx="1481328" cy="822960"/>
          </a:xfrm>
          <a:prstGeom prst="chevron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85416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física o virtual sobre una cuenta del 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0752" y="2194560"/>
            <a:ext cx="1481328" cy="822960"/>
          </a:xfrm>
          <a:prstGeom prst="chevron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13632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en tiempo real; retención de fondos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21808" y="2194560"/>
            <a:ext cx="1481328" cy="822960"/>
          </a:xfrm>
          <a:prstGeom prst="chevron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67528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Confirma, anula o devuelve; parcial permitida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2194560"/>
            <a:ext cx="1481328" cy="822960"/>
          </a:xfrm>
          <a:prstGeom prst="chevron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95744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la red casado contra cada autorización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2194560"/>
            <a:ext cx="1481328" cy="822960"/>
          </a:xfrm>
          <a:prstGeom prst="chevron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0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neta, cierre de ciclo y registro del pago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4976" y="2194560"/>
            <a:ext cx="1481328" cy="822960"/>
          </a:xfrm>
          <a:prstGeom prst="chevron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77856" y="2194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0696" y="32004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contra core, cuenta por cuenta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mueve el dinero. </a:t>
            </a:r>
            <a:pPr indent="0" marL="0">
              <a:buNone/>
            </a:pPr>
            <a:r>
              <a:rPr lang="en-US" sz="13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autorización nunca debita: retiene. La captura convierte la retención en cargo; la anulación la libera. La compensación confirma lo que la red presenta y la liquidación paga la posición neta. La conciliación comprueba que el ledger y el core cuentan lo mismo.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armado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monolito modular con un canal ISO 8583 propio y contratos claros con cada tercero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0480" y="1920240"/>
            <a:ext cx="4480560" cy="4023360"/>
          </a:xfrm>
          <a:prstGeom prst="roundRect">
            <a:avLst>
              <a:gd name="adj" fmla="val 3409"/>
            </a:avLst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4048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Mexico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25603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51960" y="2560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operativa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pestañas, perfiles por función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3383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· límites · fraude · fondos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42062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4206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y retenciones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familia de producto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5029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 y liquidación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archivos, ciclos, conciliación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19456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Redes: VISA, Mastercard, PROSA, E-Global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9184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 propio (portal POS)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3891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web (usuarios internos)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56032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92608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365760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926080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· CMS-CLR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475488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92608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IAM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0" y="19202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17152" y="19202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Mifos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cuentas, saldos, stand-in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21040" y="219456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0" y="278892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17152" y="27889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(PayShield)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CVV, claves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21040" y="306324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0" y="365760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17152" y="36576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corporativo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perfiles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21040" y="393192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44000" y="45262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17152" y="452628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correo, WhatsApp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21040" y="480060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144000" y="539496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17152" y="53949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negocios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5943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comercios y afiliaciones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21040" y="5669280"/>
            <a:ext cx="82296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familias de producto, un mismo motor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de dónde salen los fondos; no cambian la consola, el autorizador ni la liquidación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Prepago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fondos viven en el ledger del CMS. Recargas desde el core, saldo disponible inmediato, ideal para nómina, viáticos y programas de lealtad.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8892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compra consulta y retiene sobre la cuenta del cliente en el core Mifos. Si el core no responde, el autorizador entra en stand-in con límites propios y regulariza después.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9BD5CE"/>
          </a:solidFill>
          <a:ln w="12700">
            <a:solidFill>
              <a:srgbClr val="9BD5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8892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autorización consume línea disponible; la captura genera el cargo al estado de cuenta. Corte, pago mínimo e intereses viven en la configuración del producto.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común: </a:t>
            </a:r>
            <a:pPr indent="0" marL="0">
              <a:buNone/>
            </a:pPr>
            <a:r>
              <a:rPr lang="en-US" sz="1300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reservar, nunca debitar en la autorización. La retención pasa a capturada o liberada, y el enrutador de fondos aplica la lógica de cada familia.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autorizador: qué pasa en cada compra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 ISO 8583 recorre cuatro filtros y recibe un código de respuesta estándar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y estado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en bóveda, vigencia, bloqueo, CVV y PIN verificados en el HSM.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78608"/>
            <a:ext cx="9144" cy="365760"/>
          </a:xfrm>
          <a:prstGeom prst="line">
            <a:avLst/>
          </a:prstGeom>
          <a:noFill/>
          <a:ln w="19050">
            <a:solidFill>
              <a:srgbClr val="D5DDD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y límites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Canal, país, comercio, monto por operación, acumulado diario y mensual.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538728"/>
            <a:ext cx="9144" cy="365760"/>
          </a:xfrm>
          <a:prstGeom prst="line">
            <a:avLst/>
          </a:prstGeom>
          <a:noFill/>
          <a:ln w="19050">
            <a:solidFill>
              <a:srgbClr val="D5DDD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fraude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geografía, patrón; puede pedir OTP al cliente (step-up).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498848"/>
            <a:ext cx="9144" cy="365760"/>
          </a:xfrm>
          <a:prstGeom prst="line">
            <a:avLst/>
          </a:prstGeom>
          <a:noFill/>
          <a:ln w="19050">
            <a:solidFill>
              <a:srgbClr val="D5DDD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cuenta del core o línea de crédito según la familia; retención HELD.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1920240"/>
            <a:ext cx="4937760" cy="3840480"/>
          </a:xfrm>
          <a:prstGeom prst="roundRect">
            <a:avLst>
              <a:gd name="adj" fmla="val 3571"/>
            </a:avLst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al adquirente (campo 39)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25603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560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Aprobada, con folio y RRN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3090672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30906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3090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insuficientes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621024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36210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36210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 el límite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4151376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49440" y="41513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4151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por controles o fraude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4681728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46817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4681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no encontrada (captura)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5257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soportados: 0100/0200 autorización, 0220 captura diferida, 0400 reverso, devoluciones por RRN, 0800 eco. Stand-in automático si el core no responde.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por diseño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sensible nunca viaja ni se guarda en claro; lo que se hace queda registrado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 de PAN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tarjeta cifrado (AES-256-GCM) y localizado por huella HMAC. La consola y los archivos solo ven el PAN enmascarado.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214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para claves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88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PVV y CVV se generan y verifican en el HSM (PayShield). Las claves nunca salen del módulo.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245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perfiles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el IAM corporativo con separación de funciones: administración, mesa, fraude y auditoría ven y hacen cosas distintas.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245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cumplimiento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queda con usuario, fecha, entidad y detalle. Reportes regulatorios y trazabilidad para revisiones internas y externas.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operativo del día a día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mesa de control, fraude y atención a clientes resuelven desde la misma consola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y reposición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temporal o definitivo, reemisión con nuevo PAN y PIN.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4884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verificación en el HSM y notificación al cliente.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Disputas y contracargos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Apertura, evidencia, aviso al gremio y resolución a favor del cliente o del comercio.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fraude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 vivo; confirmación por OTP cuando la operación es dudosa.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114800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360 del cliente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709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Tarjetas, saldo del core, retenciones, movimientos y contactos en una sola pantalla.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114800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Stand-in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709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core cae, el autorizador sigue con límites propios y regulariza al volver.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Compensación y liquidación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archivo de la red al pago: cada presentación se casa con su autorización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0116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VISA, Mastercard, PROSA o CMS-CLR del adquirente propio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377440"/>
            <a:ext cx="256032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0116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PAN, RRN o folio; captura, reversa o contracargo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2377440"/>
            <a:ext cx="256032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84064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20116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neta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y cuotas de red por ciclo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95744" y="2377440"/>
            <a:ext cx="256032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51776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24928" y="20116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ciclo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resueltas, lote marcado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63456" y="2377440"/>
            <a:ext cx="256032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19488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E2A2B"/>
          </a:solidFill>
          <a:ln w="19050">
            <a:solidFill>
              <a:srgbClr val="0E2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20116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pago y asiento contable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neto  =  presentaciones  −  reversas  −  contracargos  −  intercambio  +  cuotas de red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74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visibles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sin autorización, monto distinto o duplicado quedan marcadas y se resuelven antes de cerrar.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5074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con el core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liquidar, el ledger se compara cuenta por cuenta contra Mifos y se listan las diferencias.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074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descargable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Ciclo, lote, posición y conciliación se exportan desde la consola.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Adquirencia on-us: el circuito cerrado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comercio nuestro cobra con una tarjeta nuestra, nadie más participa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37744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portal POS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30752" y="237744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adquirencia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240" y="23774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0E2A2B"/>
          </a:solidFill>
          <a:ln w="19050">
            <a:solidFill>
              <a:srgbClr val="0E2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51392" y="2377440"/>
            <a:ext cx="2688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autorizador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834640"/>
            <a:ext cx="914400" cy="914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65176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2651760"/>
            <a:ext cx="2468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3093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0200 ISO 8583 · BIN propio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H="1">
            <a:off x="6309360" y="3017520"/>
            <a:ext cx="2468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30936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39=00 · folio · RRN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39319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9B4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0752" y="393192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Anulación 0400 (RRN)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297680"/>
            <a:ext cx="2468880" cy="9144"/>
          </a:xfrm>
          <a:prstGeom prst="line">
            <a:avLst/>
          </a:prstGeom>
          <a:noFill/>
          <a:ln w="25400">
            <a:solidFill>
              <a:srgbClr val="E9B44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30936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la retención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50292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9B4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30752" y="502920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día: CMS-CLR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5394960"/>
            <a:ext cx="2468880" cy="9144"/>
          </a:xfrm>
          <a:prstGeom prst="line">
            <a:avLst/>
          </a:prstGeom>
          <a:noFill/>
          <a:ln w="25400">
            <a:solidFill>
              <a:srgbClr val="E9B44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30936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liquida sin intercambio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78240" y="374904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38404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la casa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intercambio ni cuotas de 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 y capturas diferidas por RRN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ajena: sigue a la marca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adquirente nunca guarda el PAN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adquirente publicado: ac.alocashfintech.com/pos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Conciliación, reportes y terceros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da tranquilidad a finanzas, cumplimiento y tecnología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contra core, cuenta por cuenta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listadas con causa y acción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por ciclo o bajo demanda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exportable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346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Operativos: emisión, autorizaciones, disputas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Regulatorios por periodo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Contabilidad: asientos por evento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directa desde la consola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 y contratos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8346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13 contratos: core, HSM, IAM, redes, gremio, mensajería, portal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salud en vivo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y stand-in cuando fallan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proveedor sin tocar el núcleo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 de la demostración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45 minutos si se recorre completo; cada paso vive en una pestaña de la consola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94360" cy="594360"/>
          </a:xfrm>
          <a:prstGeom prst="ellipse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emisión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producto y emitir una tarjeta a un cliente con cuenta en el core.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22860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286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1 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94360" cy="594360"/>
          </a:xfrm>
          <a:prstGeom prst="ellipse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9202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compra desde la consola y otra desde el portal del adquirente; un rechazo por fondos y otro por límite.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24160" y="22860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0" y="2286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6 · portal /pos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2918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Capturar, anular, devolver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reflejo en la retención, el saldo y el core.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6 y 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94360" cy="594360"/>
          </a:xfrm>
          <a:prstGeom prst="ellipse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2918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Compensar y liquidar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archivo, cerrar el ciclo y registrar el pago.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424160" y="36576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2416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18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94360" cy="594360"/>
          </a:xfrm>
          <a:prstGeom prst="ellipse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663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Conciliar y reportar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la conciliación y abrir el reporte.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50292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12 y 17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4937760"/>
            <a:ext cx="594360" cy="594360"/>
          </a:xfrm>
          <a:prstGeom prst="ellipse">
            <a:avLst/>
          </a:prstGeom>
          <a:solidFill>
            <a:srgbClr val="0E2A2B"/>
          </a:solidFill>
          <a:ln w="12700">
            <a:solidFill>
              <a:srgbClr val="0E2A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4663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C2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 todos los contratos en verde.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424160" y="50292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D7F3F0"/>
          </a:solidFill>
          <a:ln w="12700">
            <a:solidFill>
              <a:srgbClr val="D7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24160" y="5029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19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empezar: comprobar en Terceros que core, HSM, IAM, gremio y mensajería responden. Guion detallado en docs/demo-paso-a-paso.md.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CMS Mexico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sistema, tres familias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consola, mismo autorizador; solo cambia la regla de fondos.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on-us cerrado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77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 tarjetas en nuestros comercios: sin red, sin intercambio.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20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integrar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14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8583, REST con clave de API, IAM; terceros intercambiables.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153A3B"/>
          </a:solidFill>
          <a:ln w="12700">
            <a:solidFill>
              <a:srgbClr val="2A5A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520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para auditar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114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autorización, cambio y archivo queda trazado con usuario y fecha.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del CMS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https://ac.alocashfintech.com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adquirente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https://ac.alocashfintech.com/pos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Mexico · Emisión y autorización de tarjetas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Mexico y su autorizador</dc:title>
  <dc:subject>PptxGenJS Presentation</dc:subject>
  <dc:creator>PptxGenJS</dc:creator>
  <cp:lastModifiedBy>PptxGenJS</cp:lastModifiedBy>
  <cp:revision>1</cp:revision>
  <dcterms:created xsi:type="dcterms:W3CDTF">2026-09-08T19:49:38Z</dcterms:created>
  <dcterms:modified xsi:type="dcterms:W3CDTF">2026-09-08T19:49:38Z</dcterms:modified>
</cp:coreProperties>
</file>